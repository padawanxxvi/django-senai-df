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lus Jakarta Sans ExtraBold"/>
      <p:bold r:id="rId23"/>
      <p:boldItalic r:id="rId24"/>
    </p:embeddedFont>
    <p:embeddedFont>
      <p:font typeface="Plus Jakarta Sans"/>
      <p:bold r:id="rId25"/>
      <p:boldItalic r:id="rId26"/>
    </p:embeddedFont>
    <p:embeddedFont>
      <p:font typeface="Plus Jakarta Sans SemiBold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usJakartaSansExtraBold-boldItalic.fntdata"/><Relationship Id="rId23" Type="http://schemas.openxmlformats.org/officeDocument/2006/relationships/font" Target="fonts/PlusJakartaSans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PlusJakartaSansSemiBold-bold.fntdata"/><Relationship Id="rId27" Type="http://schemas.openxmlformats.org/officeDocument/2006/relationships/font" Target="fonts/PlusJakarta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PlusJakartaSa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c941c4c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1c941c4c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1c941c4c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1c941c4c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1c941c4c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1c941c4c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c941c4c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1c941c4c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c941c4ce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1c941c4ce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1c941c4ce_7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1c941c4ce_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1c941c4ce_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1c941c4ce_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1c941c4c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1c941c4c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1c941c4c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1c941c4c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1c941c4c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1c941c4c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1c941c4ce_7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1c941c4ce_7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1c941c4ce_7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1c941c4ce_7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1c941c4ce_7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1c941c4ce_7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1c941c4ce_7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1c941c4ce_7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1c941c4ce_7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1c941c4ce_7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1c941c4ce_7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1c941c4ce_7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1c941c4ce_7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1c941c4ce_7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c941c4ce_6_0)">
  <p:cSld name="Generated (g3f1c941c4ce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8.jp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rls.py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models.py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Aula 9</a:t>
            </a:r>
            <a:r>
              <a:rPr lang="pt-BR"/>
              <a:t> - Turbinando a index.html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Rômulo C. Silvestre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5"/>
          <p:cNvGrpSpPr/>
          <p:nvPr/>
        </p:nvGrpSpPr>
        <p:grpSpPr>
          <a:xfrm>
            <a:off x="381000" y="304800"/>
            <a:ext cx="4191000" cy="4076700"/>
            <a:chOff x="381000" y="304800"/>
            <a:chExt cx="4191000" cy="4076700"/>
          </a:xfrm>
        </p:grpSpPr>
        <p:pic>
          <p:nvPicPr>
            <p:cNvPr id="61" name="Google Shape;6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381000"/>
              <a:ext cx="381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5"/>
            <p:cNvSpPr txBox="1"/>
            <p:nvPr/>
          </p:nvSpPr>
          <p:spPr>
            <a:xfrm>
              <a:off x="571500" y="304800"/>
              <a:ext cx="400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60">
                  <a:solidFill>
                    <a:srgbClr val="6366F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DEVBLOG DJANGO</a:t>
              </a:r>
              <a:endParaRPr b="1" sz="1260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2660">
                  <a:solidFill>
                    <a:srgbClr val="F8FAFC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Turbinando a sua index.html</a:t>
              </a:r>
              <a:endParaRPr b="0" sz="266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81000" y="1524000"/>
              <a:ext cx="4191000" cy="22860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 txBox="1"/>
            <p:nvPr/>
          </p:nvSpPr>
          <p:spPr>
            <a:xfrm>
              <a:off x="619125" y="1762125"/>
              <a:ext cx="3714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Plus Jakarta Sans"/>
                <a:buChar char="●"/>
              </a:pPr>
              <a:r>
                <a:rPr b="0" lang="pt-BR" sz="11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Adicione uma </a:t>
              </a:r>
              <a:r>
                <a:rPr b="1" lang="pt-BR" sz="1100">
                  <a:solidFill>
                    <a:srgbClr val="F8FA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barra de pesquisa dinâmica</a:t>
              </a:r>
              <a:r>
                <a:rPr b="0" lang="pt-BR" sz="11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para que seus leitores localizem artigos instantaneamente.</a:t>
              </a:r>
              <a:endParaRPr b="0" sz="11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Plus Jakarta Sans"/>
                <a:buChar char="●"/>
              </a:pPr>
              <a:r>
                <a:rPr b="0" lang="pt-BR" sz="11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Implemente </a:t>
              </a:r>
              <a:r>
                <a:rPr b="1" lang="pt-BR" sz="1100">
                  <a:solidFill>
                    <a:srgbClr val="F8FA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filtros por eixos de tecnologia</a:t>
              </a:r>
              <a:r>
                <a:rPr b="0" lang="pt-BR" sz="11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usando botões interativos e responsivos.</a:t>
              </a:r>
              <a:endParaRPr b="0" sz="11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94A3B8"/>
                </a:buClr>
                <a:buSzPts val="1100"/>
                <a:buFont typeface="Plus Jakarta Sans"/>
                <a:buChar char="●"/>
              </a:pPr>
              <a:r>
                <a:rPr b="0" lang="pt-BR" sz="11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Crie uma seção de </a:t>
              </a:r>
              <a:r>
                <a:rPr b="1" lang="pt-BR" sz="1100">
                  <a:solidFill>
                    <a:srgbClr val="F8FAF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Mais Recentes</a:t>
              </a:r>
              <a:r>
                <a:rPr b="0" lang="pt-BR" sz="11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em formato de slider horizontal para destacar conteúdos premium.</a:t>
              </a:r>
              <a:endParaRPr b="0" sz="11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81000" y="4000500"/>
              <a:ext cx="1524000" cy="381000"/>
            </a:xfrm>
            <a:prstGeom prst="roundRect">
              <a:avLst>
                <a:gd fmla="val 50000" name="adj"/>
              </a:avLst>
            </a:prstGeom>
            <a:solidFill>
              <a:srgbClr val="10B981">
                <a:alpha val="1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 txBox="1"/>
            <p:nvPr/>
          </p:nvSpPr>
          <p:spPr>
            <a:xfrm>
              <a:off x="381000" y="400050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10B981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✓ 100% Responsivo</a:t>
              </a:r>
              <a:endParaRPr b="0" sz="1200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</p:grpSp>
      <p:grpSp>
        <p:nvGrpSpPr>
          <p:cNvPr id="67" name="Google Shape;67;p15"/>
          <p:cNvGrpSpPr/>
          <p:nvPr/>
        </p:nvGrpSpPr>
        <p:grpSpPr>
          <a:xfrm>
            <a:off x="4752975" y="371475"/>
            <a:ext cx="4019700" cy="4400700"/>
            <a:chOff x="4752975" y="371475"/>
            <a:chExt cx="4019700" cy="4400700"/>
          </a:xfrm>
        </p:grpSpPr>
        <p:pic>
          <p:nvPicPr>
            <p:cNvPr descr="A high-performance modern sports car, heavily tuned and turbocharged, glowing with neon indigo and cyan engine accents under the hood. The car is sleek, aggressive, and speeding through a futuristic digital cyber city. High contrast, premium tech aesthetic, dark mode background." id="68" name="Google Shape;68;p15"/>
            <p:cNvPicPr preferRelativeResize="0"/>
            <p:nvPr/>
          </p:nvPicPr>
          <p:blipFill rotWithShape="1">
            <a:blip r:embed="rId5">
              <a:alphaModFix/>
            </a:blip>
            <a:srcRect b="0" l="4346" r="4346" t="0"/>
            <a:stretch/>
          </p:blipFill>
          <p:spPr>
            <a:xfrm>
              <a:off x="4762500" y="381000"/>
              <a:ext cx="4000500" cy="4381500"/>
            </a:xfrm>
            <a:prstGeom prst="roundRect">
              <a:avLst>
                <a:gd fmla="val 5714" name="adj"/>
              </a:avLst>
            </a:prstGeom>
            <a:noFill/>
            <a:ln>
              <a:noFill/>
            </a:ln>
          </p:spPr>
        </p:pic>
        <p:pic>
          <p:nvPicPr>
            <p:cNvPr id="69" name="Google Shape;6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52975" y="371475"/>
              <a:ext cx="4019700" cy="4400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1 - ajuste o seu settings.py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 final adicione: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75" y="1620725"/>
            <a:ext cx="8292449" cy="18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15582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MEDIA_ROOT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155825" y="1017725"/>
            <a:ext cx="8283300" cy="22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# Variáveis de Media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MEDIA_ROOT = os.path.join(BASE_DIR, 'media')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MEDIA_URL = '/media/'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800" y="600200"/>
            <a:ext cx="3624700" cy="36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331625"/>
            <a:ext cx="8839201" cy="720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12842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2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28425" y="592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Abra o seu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urls.py</a:t>
            </a:r>
            <a:r>
              <a:rPr lang="pt-BR"/>
              <a:t> no setup (settings e static devem ser importados atualize seu código)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425" y="1363588"/>
            <a:ext cx="794385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22825" y="267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Passo 3 - adicione o +static ao urlpatterns conforme imagem…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0" y="1547135"/>
            <a:ext cx="9143999" cy="297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models.py</a:t>
            </a:r>
            <a:r>
              <a:rPr lang="pt-BR"/>
              <a:t> (campo ImageField manipular imagens)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775" y="1289271"/>
            <a:ext cx="9144001" cy="2564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Adicione também mais um campo “publicada”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25" y="1152475"/>
            <a:ext cx="866656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dar o makemigrations (erro!)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1152475"/>
            <a:ext cx="8787425" cy="13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Pillow</a:t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260775" y="1305175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pt-BR" sz="2000">
                <a:solidFill>
                  <a:schemeClr val="dk1"/>
                </a:solidFill>
              </a:rPr>
              <a:t>O Django exige essa biblioteca porque o campo </a:t>
            </a:r>
            <a:r>
              <a:rPr lang="pt-BR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ImageField</a:t>
            </a:r>
            <a:r>
              <a:rPr lang="pt-BR" sz="2000">
                <a:solidFill>
                  <a:schemeClr val="dk1"/>
                </a:solidFill>
              </a:rPr>
              <a:t> não serve apenas para armazenar o caminho do arquivo;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pt-BR" sz="2000">
                <a:solidFill>
                  <a:schemeClr val="dk1"/>
                </a:solidFill>
              </a:rPr>
              <a:t>Ele faz validações em tempo real para garantir que o arquivo enviado é, de fato, uma imagem válida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pt-BR" sz="2000">
                <a:solidFill>
                  <a:schemeClr val="dk1"/>
                </a:solidFill>
              </a:rPr>
              <a:t>E consegue até extrair metadados (como largura e altura).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pt-BR" sz="2000">
                <a:solidFill>
                  <a:schemeClr val="dk1"/>
                </a:solidFill>
              </a:rPr>
              <a:t>O Python nativo não tem essa capacidade de processamento de imagem integrada, delegando isso ao </a:t>
            </a:r>
            <a:r>
              <a:rPr b="1" lang="pt-BR" sz="2000">
                <a:solidFill>
                  <a:schemeClr val="dk1"/>
                </a:solidFill>
              </a:rPr>
              <a:t>Pillow</a:t>
            </a:r>
            <a:r>
              <a:rPr lang="pt-BR" sz="2000">
                <a:solidFill>
                  <a:schemeClr val="dk1"/>
                </a:solidFill>
              </a:rPr>
              <a:t>. 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00" y="1252125"/>
            <a:ext cx="8839200" cy="2093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125" y="396800"/>
            <a:ext cx="7486275" cy="42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75" y="773525"/>
            <a:ext cx="8839200" cy="133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16100"/>
            <a:ext cx="8839197" cy="157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Banco de Dados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295" y="0"/>
            <a:ext cx="559076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400" y="81125"/>
            <a:ext cx="64465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